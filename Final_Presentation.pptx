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F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217920" y="-1097280"/>
            <a:ext cx="4572000" cy="4572000"/>
          </a:xfrm>
          <a:prstGeom prst="ellipse">
            <a:avLst/>
          </a:prstGeom>
          <a:solidFill>
            <a:srgbClr val="0D9488">
              <a:alpha val="18000"/>
            </a:srgbClr>
          </a:solidFill>
          <a:ln w="12700">
            <a:solidFill>
              <a:srgbClr val="0D9488">
                <a:alpha val="18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548640" y="3474720"/>
            <a:ext cx="2560320" cy="2560320"/>
          </a:xfrm>
          <a:prstGeom prst="ellipse">
            <a:avLst/>
          </a:prstGeom>
          <a:solidFill>
            <a:srgbClr val="14B8A6">
              <a:alpha val="12000"/>
            </a:srgbClr>
          </a:solidFill>
          <a:ln w="12700">
            <a:solidFill>
              <a:srgbClr val="14B8A6">
                <a:alpha val="1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777240"/>
            <a:ext cx="2377440" cy="347472"/>
          </a:xfrm>
          <a:prstGeom prst="roundRect">
            <a:avLst>
              <a:gd name="adj" fmla="val 15789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777240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 SEMESTER PROJECT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94360" y="1234440"/>
            <a:ext cx="7315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Movie</a:t>
            </a:r>
            <a:endParaRPr lang="en-US" sz="6400" dirty="0"/>
          </a:p>
        </p:txBody>
      </p:sp>
      <p:sp>
        <p:nvSpPr>
          <p:cNvPr id="7" name="Text 5"/>
          <p:cNvSpPr/>
          <p:nvPr/>
        </p:nvSpPr>
        <p:spPr>
          <a:xfrm>
            <a:off x="594360" y="201168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594360" y="2788920"/>
            <a:ext cx="7315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</a:t>
            </a:r>
            <a:endParaRPr lang="en-US" sz="6400" dirty="0"/>
          </a:p>
        </p:txBody>
      </p:sp>
      <p:sp>
        <p:nvSpPr>
          <p:cNvPr id="9" name="Text 7"/>
          <p:cNvSpPr/>
          <p:nvPr/>
        </p:nvSpPr>
        <p:spPr>
          <a:xfrm>
            <a:off x="594360" y="384048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with Python  ·  OOP Design  ·  Jaccard Similarity  ·  JSON Storage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0" y="4617720"/>
            <a:ext cx="9144000" cy="525780"/>
          </a:xfrm>
          <a:prstGeom prst="rect">
            <a:avLst/>
          </a:prstGeom>
          <a:solidFill>
            <a:srgbClr val="242B3D"/>
          </a:solidFill>
          <a:ln w="12700">
            <a:solidFill>
              <a:srgbClr val="242B3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0" y="4617720"/>
            <a:ext cx="9144000" cy="5257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of 3  ·  Python Project  ·  Data Structures &amp; Algorithms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840480" cy="5143500"/>
          </a:xfrm>
          <a:prstGeom prst="rect">
            <a:avLst/>
          </a:prstGeom>
          <a:solidFill>
            <a:srgbClr val="1A1F2E"/>
          </a:solidFill>
          <a:ln w="12700">
            <a:solidFill>
              <a:srgbClr val="1A1F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548640"/>
            <a:ext cx="31089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3400" dirty="0"/>
          </a:p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Statement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365760" y="2057400"/>
            <a:ext cx="50292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2212848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do users struggle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find movies they love?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4320" y="3200400"/>
            <a:ext cx="3291840" cy="1508760"/>
          </a:xfrm>
          <a:prstGeom prst="rect">
            <a:avLst/>
          </a:prstGeom>
          <a:solidFill>
            <a:srgbClr val="0D9488">
              <a:alpha val="15000"/>
            </a:srgbClr>
          </a:solidFill>
          <a:ln w="12700">
            <a:solidFill>
              <a:srgbClr val="0D9488">
                <a:alpha val="15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3291840"/>
            <a:ext cx="30175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"Too many choices,</a:t>
            </a:r>
            <a:endParaRPr lang="en-US" sz="1500" dirty="0"/>
          </a:p>
          <a:p>
            <a:pPr indent="0" marL="0">
              <a:buNone/>
            </a:pPr>
            <a:r>
              <a:rPr lang="en-US" sz="1500" i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enough guidance."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114800" y="320040"/>
            <a:ext cx="4709160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114800" y="320040"/>
            <a:ext cx="64008" cy="13716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15968" y="429768"/>
            <a:ext cx="384048" cy="384048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4279392" y="402336"/>
            <a:ext cx="457200" cy="45720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15968" y="429768"/>
            <a:ext cx="384048" cy="38404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846320" y="448056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Information Overload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4846320" y="813816"/>
            <a:ext cx="3749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Hundreds of movies available — users spend more time choosing than watching.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4114800" y="1847088"/>
            <a:ext cx="4709160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4114800" y="1847088"/>
            <a:ext cx="64008" cy="13716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15968" y="1956816"/>
            <a:ext cx="384048" cy="384048"/>
          </a:xfrm>
          <a:prstGeom prst="rect">
            <a:avLst/>
          </a:prstGeom>
        </p:spPr>
      </p:pic>
      <p:sp>
        <p:nvSpPr>
          <p:cNvPr id="18" name="Shape 13"/>
          <p:cNvSpPr/>
          <p:nvPr/>
        </p:nvSpPr>
        <p:spPr>
          <a:xfrm>
            <a:off x="4279392" y="1929384"/>
            <a:ext cx="457200" cy="45720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15968" y="1956816"/>
            <a:ext cx="384048" cy="384048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4846320" y="1975104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Personalization</a:t>
            </a:r>
            <a:endParaRPr lang="en-US" sz="1400" dirty="0"/>
          </a:p>
        </p:txBody>
      </p:sp>
      <p:sp>
        <p:nvSpPr>
          <p:cNvPr id="21" name="Text 15"/>
          <p:cNvSpPr/>
          <p:nvPr/>
        </p:nvSpPr>
        <p:spPr>
          <a:xfrm>
            <a:off x="4846320" y="2340864"/>
            <a:ext cx="3749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Generic top-10 lists don't match individual tastes or viewing history.</a:t>
            </a:r>
            <a:endParaRPr lang="en-US" sz="1100" dirty="0"/>
          </a:p>
        </p:txBody>
      </p:sp>
      <p:sp>
        <p:nvSpPr>
          <p:cNvPr id="22" name="Shape 16"/>
          <p:cNvSpPr/>
          <p:nvPr/>
        </p:nvSpPr>
        <p:spPr>
          <a:xfrm>
            <a:off x="4114800" y="3374136"/>
            <a:ext cx="4709160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23" name="Shape 17"/>
          <p:cNvSpPr/>
          <p:nvPr/>
        </p:nvSpPr>
        <p:spPr>
          <a:xfrm>
            <a:off x="4114800" y="3374136"/>
            <a:ext cx="64008" cy="13716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15968" y="3483864"/>
            <a:ext cx="384048" cy="384048"/>
          </a:xfrm>
          <a:prstGeom prst="rect">
            <a:avLst/>
          </a:prstGeom>
        </p:spPr>
      </p:pic>
      <p:sp>
        <p:nvSpPr>
          <p:cNvPr id="25" name="Shape 18"/>
          <p:cNvSpPr/>
          <p:nvPr/>
        </p:nvSpPr>
        <p:spPr>
          <a:xfrm>
            <a:off x="4279392" y="3456432"/>
            <a:ext cx="457200" cy="45720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2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15968" y="3483864"/>
            <a:ext cx="384048" cy="384048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4846320" y="3502152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Solution</a:t>
            </a:r>
            <a:endParaRPr lang="en-US" sz="1400" dirty="0"/>
          </a:p>
        </p:txBody>
      </p:sp>
      <p:sp>
        <p:nvSpPr>
          <p:cNvPr id="28" name="Text 20"/>
          <p:cNvSpPr/>
          <p:nvPr/>
        </p:nvSpPr>
        <p:spPr>
          <a:xfrm>
            <a:off x="4846320" y="3867912"/>
            <a:ext cx="3749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 movies based on what similar users liked — just like Netflix.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F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Our System Does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896112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fully interactive features — all from one terminal menu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1920240" cy="1572768"/>
          </a:xfrm>
          <a:prstGeom prst="rect">
            <a:avLst/>
          </a:prstGeom>
          <a:solidFill>
            <a:srgbClr val="242B3D"/>
          </a:solidFill>
          <a:ln w="6350">
            <a:solidFill>
              <a:srgbClr val="334155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21792" y="1581912"/>
            <a:ext cx="475488" cy="47548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21792" y="158191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85216" y="2167128"/>
            <a:ext cx="17007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Recommendations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585216" y="2606040"/>
            <a:ext cx="17007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User ID, genre filter, and count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514600" y="1417320"/>
            <a:ext cx="1920240" cy="1572768"/>
          </a:xfrm>
          <a:prstGeom prst="rect">
            <a:avLst/>
          </a:prstGeom>
          <a:solidFill>
            <a:srgbClr val="242B3D"/>
          </a:solidFill>
          <a:ln w="6350">
            <a:solidFill>
              <a:srgbClr val="334155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679192" y="1581912"/>
            <a:ext cx="475488" cy="47548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679192" y="158191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2642616" y="2167128"/>
            <a:ext cx="17007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All Users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2642616" y="2606040"/>
            <a:ext cx="17007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Names + movies they liked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572000" y="1417320"/>
            <a:ext cx="1920240" cy="1572768"/>
          </a:xfrm>
          <a:prstGeom prst="rect">
            <a:avLst/>
          </a:prstGeom>
          <a:solidFill>
            <a:srgbClr val="242B3D"/>
          </a:solidFill>
          <a:ln w="6350">
            <a:solidFill>
              <a:srgbClr val="334155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736592" y="1581912"/>
            <a:ext cx="475488" cy="47548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36592" y="158191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4700016" y="2167128"/>
            <a:ext cx="17007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New User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4700016" y="2606040"/>
            <a:ext cx="17007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Name, liked movies, genre preferences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6629400" y="1417320"/>
            <a:ext cx="1920240" cy="1572768"/>
          </a:xfrm>
          <a:prstGeom prst="rect">
            <a:avLst/>
          </a:prstGeom>
          <a:solidFill>
            <a:srgbClr val="242B3D"/>
          </a:solidFill>
          <a:ln w="6350">
            <a:solidFill>
              <a:srgbClr val="334155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793992" y="1581912"/>
            <a:ext cx="475488" cy="47548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793992" y="158191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6757416" y="2167128"/>
            <a:ext cx="17007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Liked Movie to User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6757416" y="2606040"/>
            <a:ext cx="17007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preferences anytime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525780" y="3246120"/>
            <a:ext cx="2606040" cy="1572768"/>
          </a:xfrm>
          <a:prstGeom prst="rect">
            <a:avLst/>
          </a:prstGeom>
          <a:solidFill>
            <a:srgbClr val="242B3D"/>
          </a:solidFill>
          <a:ln w="6350">
            <a:solidFill>
              <a:srgbClr val="334155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90372" y="3410712"/>
            <a:ext cx="475488" cy="47548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90372" y="341071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653796" y="3995928"/>
            <a:ext cx="23865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 Movies by Genre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653796" y="4434840"/>
            <a:ext cx="23865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full catalog by genre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3268980" y="3246120"/>
            <a:ext cx="2606040" cy="1572768"/>
          </a:xfrm>
          <a:prstGeom prst="rect">
            <a:avLst/>
          </a:prstGeom>
          <a:solidFill>
            <a:srgbClr val="242B3D"/>
          </a:solidFill>
          <a:ln w="6350">
            <a:solidFill>
              <a:srgbClr val="334155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3433572" y="3410712"/>
            <a:ext cx="475488" cy="47548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433572" y="341071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3396996" y="3995928"/>
            <a:ext cx="23865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Movie to Catalog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3396996" y="4434840"/>
            <a:ext cx="23865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Title, genre, year, IMDb rating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6012180" y="3246120"/>
            <a:ext cx="2606040" cy="1572768"/>
          </a:xfrm>
          <a:prstGeom prst="rect">
            <a:avLst/>
          </a:prstGeom>
          <a:solidFill>
            <a:srgbClr val="242B3D"/>
          </a:solidFill>
          <a:ln w="6350">
            <a:solidFill>
              <a:srgbClr val="334155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6176772" y="3410712"/>
            <a:ext cx="475488" cy="47548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176772" y="341071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500" dirty="0"/>
          </a:p>
        </p:txBody>
      </p:sp>
      <p:sp>
        <p:nvSpPr>
          <p:cNvPr id="37" name="Text 35"/>
          <p:cNvSpPr/>
          <p:nvPr/>
        </p:nvSpPr>
        <p:spPr>
          <a:xfrm>
            <a:off x="6140196" y="3995928"/>
            <a:ext cx="23865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Two Users</a:t>
            </a:r>
            <a:endParaRPr lang="en-US" sz="1150" dirty="0"/>
          </a:p>
        </p:txBody>
      </p:sp>
      <p:sp>
        <p:nvSpPr>
          <p:cNvPr id="38" name="Text 36"/>
          <p:cNvSpPr/>
          <p:nvPr/>
        </p:nvSpPr>
        <p:spPr>
          <a:xfrm>
            <a:off x="6140196" y="4434840"/>
            <a:ext cx="23865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Jaccard similarity score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OOP Architecture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804672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classes · each with a single clear responsibility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20040" y="1234440"/>
            <a:ext cx="1993392" cy="35661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1234440"/>
            <a:ext cx="1993392" cy="8686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29768" y="1417320"/>
            <a:ext cx="502920" cy="502920"/>
          </a:xfrm>
          <a:prstGeom prst="ellipse">
            <a:avLst/>
          </a:prstGeom>
          <a:solidFill>
            <a:srgbClr val="FFFFFF">
              <a:alpha val="75000"/>
            </a:srgbClr>
          </a:solidFill>
          <a:ln w="12700">
            <a:solidFill>
              <a:srgbClr val="FFFFFF">
                <a:alpha val="75000"/>
              </a:srgbClr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48056" y="1435608"/>
            <a:ext cx="457200" cy="4572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33272" y="1344168"/>
            <a:ext cx="1188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Movie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29768" y="2167128"/>
            <a:ext cx="1773936" cy="274320"/>
          </a:xfrm>
          <a:prstGeom prst="rect">
            <a:avLst/>
          </a:prstGeom>
          <a:solidFill>
            <a:srgbClr val="EFF6FF"/>
          </a:solidFill>
          <a:ln w="6350">
            <a:solidFill>
              <a:srgbClr val="BFDBFE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29768" y="2167128"/>
            <a:ext cx="17739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models.py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429768" y="2551176"/>
            <a:ext cx="1773936" cy="365760"/>
          </a:xfrm>
          <a:prstGeom prst="rect">
            <a:avLst/>
          </a:prstGeom>
          <a:solidFill>
            <a:srgbClr val="F8FAFC"/>
          </a:solidFill>
          <a:ln w="3810">
            <a:solidFill>
              <a:srgbClr val="F1F5F9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84632" y="2551176"/>
            <a:ext cx="16642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__init__()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429768" y="3008376"/>
            <a:ext cx="1773936" cy="365760"/>
          </a:xfrm>
          <a:prstGeom prst="rect">
            <a:avLst/>
          </a:prstGeom>
          <a:solidFill>
            <a:srgbClr val="FFFFFF"/>
          </a:solidFill>
          <a:ln w="3810">
            <a:solidFill>
              <a:srgbClr val="F1F5F9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84632" y="3008376"/>
            <a:ext cx="16642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to_dict()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429768" y="3465576"/>
            <a:ext cx="1773936" cy="365760"/>
          </a:xfrm>
          <a:prstGeom prst="rect">
            <a:avLst/>
          </a:prstGeom>
          <a:solidFill>
            <a:srgbClr val="F8FAFC"/>
          </a:solidFill>
          <a:ln w="3810">
            <a:solidFill>
              <a:srgbClr val="F1F5F9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84632" y="3465576"/>
            <a:ext cx="16642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display()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429768" y="3922776"/>
            <a:ext cx="1773936" cy="365760"/>
          </a:xfrm>
          <a:prstGeom prst="rect">
            <a:avLst/>
          </a:prstGeom>
          <a:solidFill>
            <a:srgbClr val="FFFFFF"/>
          </a:solidFill>
          <a:ln w="3810">
            <a:solidFill>
              <a:srgbClr val="F1F5F9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84632" y="3922776"/>
            <a:ext cx="16642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__repr__()</a:t>
            </a:r>
            <a:endParaRPr lang="en-US" sz="950" dirty="0"/>
          </a:p>
        </p:txBody>
      </p:sp>
      <p:sp>
        <p:nvSpPr>
          <p:cNvPr id="19" name="Shape 16"/>
          <p:cNvSpPr/>
          <p:nvPr/>
        </p:nvSpPr>
        <p:spPr>
          <a:xfrm>
            <a:off x="320040" y="4526280"/>
            <a:ext cx="1993392" cy="2743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320040" y="4526280"/>
            <a:ext cx="199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 1</a:t>
            </a:r>
            <a:endParaRPr lang="en-US" sz="900" dirty="0"/>
          </a:p>
        </p:txBody>
      </p:sp>
      <p:sp>
        <p:nvSpPr>
          <p:cNvPr id="21" name="Shape 18"/>
          <p:cNvSpPr/>
          <p:nvPr/>
        </p:nvSpPr>
        <p:spPr>
          <a:xfrm>
            <a:off x="2468880" y="1234440"/>
            <a:ext cx="1993392" cy="35661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2468880" y="1234440"/>
            <a:ext cx="1993392" cy="86868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2578608" y="1417320"/>
            <a:ext cx="502920" cy="502920"/>
          </a:xfrm>
          <a:prstGeom prst="ellipse">
            <a:avLst/>
          </a:prstGeom>
          <a:solidFill>
            <a:srgbClr val="FFFFFF">
              <a:alpha val="75000"/>
            </a:srgbClr>
          </a:solidFill>
          <a:ln w="12700">
            <a:solidFill>
              <a:srgbClr val="FFFFFF">
                <a:alpha val="75000"/>
              </a:srgbClr>
            </a:solidFill>
            <a:prstDash val="solid"/>
          </a:ln>
        </p:spPr>
      </p:sp>
      <p:pic>
        <p:nvPicPr>
          <p:cNvPr id="2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6896" y="1435608"/>
            <a:ext cx="457200" cy="457200"/>
          </a:xfrm>
          <a:prstGeom prst="rect">
            <a:avLst/>
          </a:prstGeom>
        </p:spPr>
      </p:pic>
      <p:sp>
        <p:nvSpPr>
          <p:cNvPr id="25" name="Text 21"/>
          <p:cNvSpPr/>
          <p:nvPr/>
        </p:nvSpPr>
        <p:spPr>
          <a:xfrm>
            <a:off x="3182112" y="1344168"/>
            <a:ext cx="1188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endParaRPr lang="en-US" sz="1300" dirty="0"/>
          </a:p>
        </p:txBody>
      </p:sp>
      <p:sp>
        <p:nvSpPr>
          <p:cNvPr id="26" name="Shape 22"/>
          <p:cNvSpPr/>
          <p:nvPr/>
        </p:nvSpPr>
        <p:spPr>
          <a:xfrm>
            <a:off x="2578608" y="2167128"/>
            <a:ext cx="1773936" cy="274320"/>
          </a:xfrm>
          <a:prstGeom prst="rect">
            <a:avLst/>
          </a:prstGeom>
          <a:solidFill>
            <a:srgbClr val="EFF6FF"/>
          </a:solidFill>
          <a:ln w="6350">
            <a:solidFill>
              <a:srgbClr val="BFDBFE"/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2578608" y="2167128"/>
            <a:ext cx="17739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models.py</a:t>
            </a:r>
            <a:endParaRPr lang="en-US" sz="900" dirty="0"/>
          </a:p>
        </p:txBody>
      </p:sp>
      <p:sp>
        <p:nvSpPr>
          <p:cNvPr id="28" name="Shape 24"/>
          <p:cNvSpPr/>
          <p:nvPr/>
        </p:nvSpPr>
        <p:spPr>
          <a:xfrm>
            <a:off x="2578608" y="2551176"/>
            <a:ext cx="1773936" cy="365760"/>
          </a:xfrm>
          <a:prstGeom prst="rect">
            <a:avLst/>
          </a:prstGeom>
          <a:solidFill>
            <a:srgbClr val="F8FAFC"/>
          </a:solidFill>
          <a:ln w="3810">
            <a:solidFill>
              <a:srgbClr val="F1F5F9"/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2633472" y="2551176"/>
            <a:ext cx="16642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__init__()</a:t>
            </a:r>
            <a:endParaRPr lang="en-US" sz="950" dirty="0"/>
          </a:p>
        </p:txBody>
      </p:sp>
      <p:sp>
        <p:nvSpPr>
          <p:cNvPr id="30" name="Shape 26"/>
          <p:cNvSpPr/>
          <p:nvPr/>
        </p:nvSpPr>
        <p:spPr>
          <a:xfrm>
            <a:off x="2578608" y="3008376"/>
            <a:ext cx="1773936" cy="365760"/>
          </a:xfrm>
          <a:prstGeom prst="rect">
            <a:avLst/>
          </a:prstGeom>
          <a:solidFill>
            <a:srgbClr val="FFFFFF"/>
          </a:solidFill>
          <a:ln w="3810">
            <a:solidFill>
              <a:srgbClr val="F1F5F9"/>
            </a:solidFill>
            <a:prstDash val="solid"/>
          </a:ln>
        </p:spPr>
      </p:sp>
      <p:sp>
        <p:nvSpPr>
          <p:cNvPr id="31" name="Text 27"/>
          <p:cNvSpPr/>
          <p:nvPr/>
        </p:nvSpPr>
        <p:spPr>
          <a:xfrm>
            <a:off x="2633472" y="3008376"/>
            <a:ext cx="16642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add_liked_item()</a:t>
            </a:r>
            <a:endParaRPr lang="en-US" sz="950" dirty="0"/>
          </a:p>
        </p:txBody>
      </p:sp>
      <p:sp>
        <p:nvSpPr>
          <p:cNvPr id="32" name="Shape 28"/>
          <p:cNvSpPr/>
          <p:nvPr/>
        </p:nvSpPr>
        <p:spPr>
          <a:xfrm>
            <a:off x="2578608" y="3465576"/>
            <a:ext cx="1773936" cy="365760"/>
          </a:xfrm>
          <a:prstGeom prst="rect">
            <a:avLst/>
          </a:prstGeom>
          <a:solidFill>
            <a:srgbClr val="F8FAFC"/>
          </a:solidFill>
          <a:ln w="3810">
            <a:solidFill>
              <a:srgbClr val="F1F5F9"/>
            </a:solidFill>
            <a:prstDash val="solid"/>
          </a:ln>
        </p:spPr>
      </p:sp>
      <p:sp>
        <p:nvSpPr>
          <p:cNvPr id="33" name="Text 29"/>
          <p:cNvSpPr/>
          <p:nvPr/>
        </p:nvSpPr>
        <p:spPr>
          <a:xfrm>
            <a:off x="2633472" y="3465576"/>
            <a:ext cx="16642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has_seen()</a:t>
            </a:r>
            <a:endParaRPr lang="en-US" sz="950" dirty="0"/>
          </a:p>
        </p:txBody>
      </p:sp>
      <p:sp>
        <p:nvSpPr>
          <p:cNvPr id="34" name="Shape 30"/>
          <p:cNvSpPr/>
          <p:nvPr/>
        </p:nvSpPr>
        <p:spPr>
          <a:xfrm>
            <a:off x="2578608" y="3922776"/>
            <a:ext cx="1773936" cy="365760"/>
          </a:xfrm>
          <a:prstGeom prst="rect">
            <a:avLst/>
          </a:prstGeom>
          <a:solidFill>
            <a:srgbClr val="FFFFFF"/>
          </a:solidFill>
          <a:ln w="3810">
            <a:solidFill>
              <a:srgbClr val="F1F5F9"/>
            </a:solidFill>
            <a:prstDash val="solid"/>
          </a:ln>
        </p:spPr>
      </p:sp>
      <p:sp>
        <p:nvSpPr>
          <p:cNvPr id="35" name="Text 31"/>
          <p:cNvSpPr/>
          <p:nvPr/>
        </p:nvSpPr>
        <p:spPr>
          <a:xfrm>
            <a:off x="2633472" y="3922776"/>
            <a:ext cx="16642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display()</a:t>
            </a:r>
            <a:endParaRPr lang="en-US" sz="950" dirty="0"/>
          </a:p>
        </p:txBody>
      </p:sp>
      <p:sp>
        <p:nvSpPr>
          <p:cNvPr id="36" name="Shape 32"/>
          <p:cNvSpPr/>
          <p:nvPr/>
        </p:nvSpPr>
        <p:spPr>
          <a:xfrm>
            <a:off x="2468880" y="4526280"/>
            <a:ext cx="1993392" cy="27432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37" name="Text 33"/>
          <p:cNvSpPr/>
          <p:nvPr/>
        </p:nvSpPr>
        <p:spPr>
          <a:xfrm>
            <a:off x="2468880" y="4526280"/>
            <a:ext cx="199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 1</a:t>
            </a:r>
            <a:endParaRPr lang="en-US" sz="900" dirty="0"/>
          </a:p>
        </p:txBody>
      </p:sp>
      <p:sp>
        <p:nvSpPr>
          <p:cNvPr id="38" name="Shape 34"/>
          <p:cNvSpPr/>
          <p:nvPr/>
        </p:nvSpPr>
        <p:spPr>
          <a:xfrm>
            <a:off x="4617720" y="1234440"/>
            <a:ext cx="1993392" cy="35661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39" name="Shape 35"/>
          <p:cNvSpPr/>
          <p:nvPr/>
        </p:nvSpPr>
        <p:spPr>
          <a:xfrm>
            <a:off x="4617720" y="1234440"/>
            <a:ext cx="1993392" cy="8686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0" name="Shape 36"/>
          <p:cNvSpPr/>
          <p:nvPr/>
        </p:nvSpPr>
        <p:spPr>
          <a:xfrm>
            <a:off x="4727448" y="1417320"/>
            <a:ext cx="502920" cy="502920"/>
          </a:xfrm>
          <a:prstGeom prst="ellipse">
            <a:avLst/>
          </a:prstGeom>
          <a:solidFill>
            <a:srgbClr val="FFFFFF">
              <a:alpha val="75000"/>
            </a:srgbClr>
          </a:solidFill>
          <a:ln w="12700">
            <a:solidFill>
              <a:srgbClr val="FFFFFF">
                <a:alpha val="75000"/>
              </a:srgbClr>
            </a:solidFill>
            <a:prstDash val="solid"/>
          </a:ln>
        </p:spPr>
      </p:sp>
      <p:pic>
        <p:nvPicPr>
          <p:cNvPr id="4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45736" y="1435608"/>
            <a:ext cx="457200" cy="457200"/>
          </a:xfrm>
          <a:prstGeom prst="rect">
            <a:avLst/>
          </a:prstGeom>
        </p:spPr>
      </p:pic>
      <p:sp>
        <p:nvSpPr>
          <p:cNvPr id="42" name="Text 37"/>
          <p:cNvSpPr/>
          <p:nvPr/>
        </p:nvSpPr>
        <p:spPr>
          <a:xfrm>
            <a:off x="5330952" y="1344168"/>
            <a:ext cx="1188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DataManager</a:t>
            </a:r>
            <a:endParaRPr lang="en-US" sz="1300" dirty="0"/>
          </a:p>
        </p:txBody>
      </p:sp>
      <p:sp>
        <p:nvSpPr>
          <p:cNvPr id="43" name="Shape 38"/>
          <p:cNvSpPr/>
          <p:nvPr/>
        </p:nvSpPr>
        <p:spPr>
          <a:xfrm>
            <a:off x="4727448" y="2167128"/>
            <a:ext cx="1773936" cy="274320"/>
          </a:xfrm>
          <a:prstGeom prst="rect">
            <a:avLst/>
          </a:prstGeom>
          <a:solidFill>
            <a:srgbClr val="EFF6FF"/>
          </a:solidFill>
          <a:ln w="6350">
            <a:solidFill>
              <a:srgbClr val="BFDBFE"/>
            </a:solidFill>
            <a:prstDash val="solid"/>
          </a:ln>
        </p:spPr>
      </p:sp>
      <p:sp>
        <p:nvSpPr>
          <p:cNvPr id="44" name="Text 39"/>
          <p:cNvSpPr/>
          <p:nvPr/>
        </p:nvSpPr>
        <p:spPr>
          <a:xfrm>
            <a:off x="4727448" y="2167128"/>
            <a:ext cx="17739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data_manager.py</a:t>
            </a:r>
            <a:endParaRPr lang="en-US" sz="900" dirty="0"/>
          </a:p>
        </p:txBody>
      </p:sp>
      <p:sp>
        <p:nvSpPr>
          <p:cNvPr id="45" name="Shape 40"/>
          <p:cNvSpPr/>
          <p:nvPr/>
        </p:nvSpPr>
        <p:spPr>
          <a:xfrm>
            <a:off x="4727448" y="2551176"/>
            <a:ext cx="1773936" cy="365760"/>
          </a:xfrm>
          <a:prstGeom prst="rect">
            <a:avLst/>
          </a:prstGeom>
          <a:solidFill>
            <a:srgbClr val="F8FAFC"/>
          </a:solidFill>
          <a:ln w="3810">
            <a:solidFill>
              <a:srgbClr val="F1F5F9"/>
            </a:solidFill>
            <a:prstDash val="solid"/>
          </a:ln>
        </p:spPr>
      </p:sp>
      <p:sp>
        <p:nvSpPr>
          <p:cNvPr id="46" name="Text 41"/>
          <p:cNvSpPr/>
          <p:nvPr/>
        </p:nvSpPr>
        <p:spPr>
          <a:xfrm>
            <a:off x="4782312" y="2551176"/>
            <a:ext cx="16642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load_users()</a:t>
            </a:r>
            <a:endParaRPr lang="en-US" sz="950" dirty="0"/>
          </a:p>
        </p:txBody>
      </p:sp>
      <p:sp>
        <p:nvSpPr>
          <p:cNvPr id="47" name="Shape 42"/>
          <p:cNvSpPr/>
          <p:nvPr/>
        </p:nvSpPr>
        <p:spPr>
          <a:xfrm>
            <a:off x="4727448" y="3008376"/>
            <a:ext cx="1773936" cy="365760"/>
          </a:xfrm>
          <a:prstGeom prst="rect">
            <a:avLst/>
          </a:prstGeom>
          <a:solidFill>
            <a:srgbClr val="FFFFFF"/>
          </a:solidFill>
          <a:ln w="3810">
            <a:solidFill>
              <a:srgbClr val="F1F5F9"/>
            </a:solidFill>
            <a:prstDash val="solid"/>
          </a:ln>
        </p:spPr>
      </p:sp>
      <p:sp>
        <p:nvSpPr>
          <p:cNvPr id="48" name="Text 43"/>
          <p:cNvSpPr/>
          <p:nvPr/>
        </p:nvSpPr>
        <p:spPr>
          <a:xfrm>
            <a:off x="4782312" y="3008376"/>
            <a:ext cx="16642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load_movies()</a:t>
            </a:r>
            <a:endParaRPr lang="en-US" sz="950" dirty="0"/>
          </a:p>
        </p:txBody>
      </p:sp>
      <p:sp>
        <p:nvSpPr>
          <p:cNvPr id="49" name="Shape 44"/>
          <p:cNvSpPr/>
          <p:nvPr/>
        </p:nvSpPr>
        <p:spPr>
          <a:xfrm>
            <a:off x="4727448" y="3465576"/>
            <a:ext cx="1773936" cy="365760"/>
          </a:xfrm>
          <a:prstGeom prst="rect">
            <a:avLst/>
          </a:prstGeom>
          <a:solidFill>
            <a:srgbClr val="F8FAFC"/>
          </a:solidFill>
          <a:ln w="3810">
            <a:solidFill>
              <a:srgbClr val="F1F5F9"/>
            </a:solidFill>
            <a:prstDash val="solid"/>
          </a:ln>
        </p:spPr>
      </p:sp>
      <p:sp>
        <p:nvSpPr>
          <p:cNvPr id="50" name="Text 45"/>
          <p:cNvSpPr/>
          <p:nvPr/>
        </p:nvSpPr>
        <p:spPr>
          <a:xfrm>
            <a:off x="4782312" y="3465576"/>
            <a:ext cx="16642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save_users()</a:t>
            </a:r>
            <a:endParaRPr lang="en-US" sz="950" dirty="0"/>
          </a:p>
        </p:txBody>
      </p:sp>
      <p:sp>
        <p:nvSpPr>
          <p:cNvPr id="51" name="Shape 46"/>
          <p:cNvSpPr/>
          <p:nvPr/>
        </p:nvSpPr>
        <p:spPr>
          <a:xfrm>
            <a:off x="4727448" y="3922776"/>
            <a:ext cx="1773936" cy="365760"/>
          </a:xfrm>
          <a:prstGeom prst="rect">
            <a:avLst/>
          </a:prstGeom>
          <a:solidFill>
            <a:srgbClr val="FFFFFF"/>
          </a:solidFill>
          <a:ln w="3810">
            <a:solidFill>
              <a:srgbClr val="F1F5F9"/>
            </a:solidFill>
            <a:prstDash val="solid"/>
          </a:ln>
        </p:spPr>
      </p:sp>
      <p:sp>
        <p:nvSpPr>
          <p:cNvPr id="52" name="Text 47"/>
          <p:cNvSpPr/>
          <p:nvPr/>
        </p:nvSpPr>
        <p:spPr>
          <a:xfrm>
            <a:off x="4782312" y="3922776"/>
            <a:ext cx="16642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save_movies()</a:t>
            </a:r>
            <a:endParaRPr lang="en-US" sz="950" dirty="0"/>
          </a:p>
        </p:txBody>
      </p:sp>
      <p:sp>
        <p:nvSpPr>
          <p:cNvPr id="53" name="Shape 48"/>
          <p:cNvSpPr/>
          <p:nvPr/>
        </p:nvSpPr>
        <p:spPr>
          <a:xfrm>
            <a:off x="4617720" y="4526280"/>
            <a:ext cx="1993392" cy="2743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4" name="Text 49"/>
          <p:cNvSpPr/>
          <p:nvPr/>
        </p:nvSpPr>
        <p:spPr>
          <a:xfrm>
            <a:off x="4617720" y="4526280"/>
            <a:ext cx="199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 2</a:t>
            </a:r>
            <a:endParaRPr lang="en-US" sz="900" dirty="0"/>
          </a:p>
        </p:txBody>
      </p:sp>
      <p:sp>
        <p:nvSpPr>
          <p:cNvPr id="55" name="Shape 50"/>
          <p:cNvSpPr/>
          <p:nvPr/>
        </p:nvSpPr>
        <p:spPr>
          <a:xfrm>
            <a:off x="6766560" y="1234440"/>
            <a:ext cx="1993392" cy="35661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56" name="Shape 51"/>
          <p:cNvSpPr/>
          <p:nvPr/>
        </p:nvSpPr>
        <p:spPr>
          <a:xfrm>
            <a:off x="6766560" y="1234440"/>
            <a:ext cx="1993392" cy="86868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57" name="Shape 52"/>
          <p:cNvSpPr/>
          <p:nvPr/>
        </p:nvSpPr>
        <p:spPr>
          <a:xfrm>
            <a:off x="6876288" y="1417320"/>
            <a:ext cx="502920" cy="502920"/>
          </a:xfrm>
          <a:prstGeom prst="ellipse">
            <a:avLst/>
          </a:prstGeom>
          <a:solidFill>
            <a:srgbClr val="FFFFFF">
              <a:alpha val="75000"/>
            </a:srgbClr>
          </a:solidFill>
          <a:ln w="12700">
            <a:solidFill>
              <a:srgbClr val="FFFFFF">
                <a:alpha val="75000"/>
              </a:srgbClr>
            </a:solidFill>
            <a:prstDash val="solid"/>
          </a:ln>
        </p:spPr>
      </p:sp>
      <p:pic>
        <p:nvPicPr>
          <p:cNvPr id="5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94576" y="1435608"/>
            <a:ext cx="457200" cy="457200"/>
          </a:xfrm>
          <a:prstGeom prst="rect">
            <a:avLst/>
          </a:prstGeom>
        </p:spPr>
      </p:pic>
      <p:sp>
        <p:nvSpPr>
          <p:cNvPr id="59" name="Text 53"/>
          <p:cNvSpPr/>
          <p:nvPr/>
        </p:nvSpPr>
        <p:spPr>
          <a:xfrm>
            <a:off x="7479792" y="1344168"/>
            <a:ext cx="1188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</a:t>
            </a:r>
            <a:endParaRPr lang="en-US" sz="1300" dirty="0"/>
          </a:p>
        </p:txBody>
      </p:sp>
      <p:sp>
        <p:nvSpPr>
          <p:cNvPr id="60" name="Shape 54"/>
          <p:cNvSpPr/>
          <p:nvPr/>
        </p:nvSpPr>
        <p:spPr>
          <a:xfrm>
            <a:off x="6876288" y="2167128"/>
            <a:ext cx="1773936" cy="274320"/>
          </a:xfrm>
          <a:prstGeom prst="rect">
            <a:avLst/>
          </a:prstGeom>
          <a:solidFill>
            <a:srgbClr val="EFF6FF"/>
          </a:solidFill>
          <a:ln w="6350">
            <a:solidFill>
              <a:srgbClr val="BFDBFE"/>
            </a:solidFill>
            <a:prstDash val="solid"/>
          </a:ln>
        </p:spPr>
      </p:sp>
      <p:sp>
        <p:nvSpPr>
          <p:cNvPr id="61" name="Text 55"/>
          <p:cNvSpPr/>
          <p:nvPr/>
        </p:nvSpPr>
        <p:spPr>
          <a:xfrm>
            <a:off x="6876288" y="2167128"/>
            <a:ext cx="17739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recommender.py</a:t>
            </a:r>
            <a:endParaRPr lang="en-US" sz="900" dirty="0"/>
          </a:p>
        </p:txBody>
      </p:sp>
      <p:sp>
        <p:nvSpPr>
          <p:cNvPr id="62" name="Shape 56"/>
          <p:cNvSpPr/>
          <p:nvPr/>
        </p:nvSpPr>
        <p:spPr>
          <a:xfrm>
            <a:off x="6876288" y="2551176"/>
            <a:ext cx="1773936" cy="365760"/>
          </a:xfrm>
          <a:prstGeom prst="rect">
            <a:avLst/>
          </a:prstGeom>
          <a:solidFill>
            <a:srgbClr val="F8FAFC"/>
          </a:solidFill>
          <a:ln w="3810">
            <a:solidFill>
              <a:srgbClr val="F1F5F9"/>
            </a:solidFill>
            <a:prstDash val="solid"/>
          </a:ln>
        </p:spPr>
      </p:sp>
      <p:sp>
        <p:nvSpPr>
          <p:cNvPr id="63" name="Text 57"/>
          <p:cNvSpPr/>
          <p:nvPr/>
        </p:nvSpPr>
        <p:spPr>
          <a:xfrm>
            <a:off x="6931152" y="2551176"/>
            <a:ext cx="16642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jaccard_similarity()</a:t>
            </a:r>
            <a:endParaRPr lang="en-US" sz="950" dirty="0"/>
          </a:p>
        </p:txBody>
      </p:sp>
      <p:sp>
        <p:nvSpPr>
          <p:cNvPr id="64" name="Shape 58"/>
          <p:cNvSpPr/>
          <p:nvPr/>
        </p:nvSpPr>
        <p:spPr>
          <a:xfrm>
            <a:off x="6876288" y="3008376"/>
            <a:ext cx="1773936" cy="365760"/>
          </a:xfrm>
          <a:prstGeom prst="rect">
            <a:avLst/>
          </a:prstGeom>
          <a:solidFill>
            <a:srgbClr val="FFFFFF"/>
          </a:solidFill>
          <a:ln w="3810">
            <a:solidFill>
              <a:srgbClr val="F1F5F9"/>
            </a:solidFill>
            <a:prstDash val="solid"/>
          </a:ln>
        </p:spPr>
      </p:sp>
      <p:sp>
        <p:nvSpPr>
          <p:cNvPr id="65" name="Text 59"/>
          <p:cNvSpPr/>
          <p:nvPr/>
        </p:nvSpPr>
        <p:spPr>
          <a:xfrm>
            <a:off x="6931152" y="3008376"/>
            <a:ext cx="16642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get_recommendations()</a:t>
            </a:r>
            <a:endParaRPr lang="en-US" sz="950" dirty="0"/>
          </a:p>
        </p:txBody>
      </p:sp>
      <p:sp>
        <p:nvSpPr>
          <p:cNvPr id="66" name="Shape 60"/>
          <p:cNvSpPr/>
          <p:nvPr/>
        </p:nvSpPr>
        <p:spPr>
          <a:xfrm>
            <a:off x="6876288" y="3465576"/>
            <a:ext cx="1773936" cy="365760"/>
          </a:xfrm>
          <a:prstGeom prst="rect">
            <a:avLst/>
          </a:prstGeom>
          <a:solidFill>
            <a:srgbClr val="F8FAFC"/>
          </a:solidFill>
          <a:ln w="3810">
            <a:solidFill>
              <a:srgbClr val="F1F5F9"/>
            </a:solidFill>
            <a:prstDash val="solid"/>
          </a:ln>
        </p:spPr>
      </p:sp>
      <p:sp>
        <p:nvSpPr>
          <p:cNvPr id="67" name="Text 61"/>
          <p:cNvSpPr/>
          <p:nvPr/>
        </p:nvSpPr>
        <p:spPr>
          <a:xfrm>
            <a:off x="6931152" y="3465576"/>
            <a:ext cx="16642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run()</a:t>
            </a:r>
            <a:endParaRPr lang="en-US" sz="950" dirty="0"/>
          </a:p>
        </p:txBody>
      </p:sp>
      <p:sp>
        <p:nvSpPr>
          <p:cNvPr id="68" name="Shape 62"/>
          <p:cNvSpPr/>
          <p:nvPr/>
        </p:nvSpPr>
        <p:spPr>
          <a:xfrm>
            <a:off x="6876288" y="3922776"/>
            <a:ext cx="1773936" cy="365760"/>
          </a:xfrm>
          <a:prstGeom prst="rect">
            <a:avLst/>
          </a:prstGeom>
          <a:solidFill>
            <a:srgbClr val="FFFFFF"/>
          </a:solidFill>
          <a:ln w="3810">
            <a:solidFill>
              <a:srgbClr val="F1F5F9"/>
            </a:solidFill>
            <a:prstDash val="solid"/>
          </a:ln>
        </p:spPr>
      </p:sp>
      <p:sp>
        <p:nvSpPr>
          <p:cNvPr id="69" name="Text 63"/>
          <p:cNvSpPr/>
          <p:nvPr/>
        </p:nvSpPr>
        <p:spPr>
          <a:xfrm>
            <a:off x="6931152" y="3922776"/>
            <a:ext cx="16642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feature_*()</a:t>
            </a:r>
            <a:endParaRPr lang="en-US" sz="950" dirty="0"/>
          </a:p>
        </p:txBody>
      </p:sp>
      <p:sp>
        <p:nvSpPr>
          <p:cNvPr id="70" name="Shape 64"/>
          <p:cNvSpPr/>
          <p:nvPr/>
        </p:nvSpPr>
        <p:spPr>
          <a:xfrm>
            <a:off x="6766560" y="4526280"/>
            <a:ext cx="1993392" cy="27432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71" name="Text 65"/>
          <p:cNvSpPr/>
          <p:nvPr/>
        </p:nvSpPr>
        <p:spPr>
          <a:xfrm>
            <a:off x="6766560" y="4526280"/>
            <a:ext cx="199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 3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1F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Jaccard Similarity Algorithm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804672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math behind every recommendation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8229600" cy="868680"/>
          </a:xfrm>
          <a:prstGeom prst="rect">
            <a:avLst/>
          </a:prstGeom>
          <a:solidFill>
            <a:srgbClr val="0D9488">
              <a:alpha val="12000"/>
            </a:srgbClr>
          </a:solidFill>
          <a:ln w="12700">
            <a:solidFill>
              <a:srgbClr val="0D9488">
                <a:alpha val="4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23444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Similarity(A,B) = |A ∩ B| ÷ |A ∪ B|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457200" y="2331720"/>
            <a:ext cx="2633472" cy="2560320"/>
          </a:xfrm>
          <a:prstGeom prst="rect">
            <a:avLst/>
          </a:prstGeom>
          <a:solidFill>
            <a:srgbClr val="242B3D"/>
          </a:solidFill>
          <a:ln w="6350">
            <a:solidFill>
              <a:srgbClr val="334155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2331720"/>
            <a:ext cx="2633472" cy="42062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2331720"/>
            <a:ext cx="26334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Alice liked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21792" y="288036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Dark Knight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21792" y="3447288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Superbad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21792" y="4014216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Avengers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246120" y="2331720"/>
            <a:ext cx="2633472" cy="2560320"/>
          </a:xfrm>
          <a:prstGeom prst="rect">
            <a:avLst/>
          </a:prstGeom>
          <a:solidFill>
            <a:srgbClr val="242B3D"/>
          </a:solidFill>
          <a:ln w="6350">
            <a:solidFill>
              <a:srgbClr val="334155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46120" y="2331720"/>
            <a:ext cx="2633472" cy="420624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46120" y="2331720"/>
            <a:ext cx="26334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Bob liked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410712" y="288036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Superbad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410712" y="3447288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Godfather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410712" y="4014216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Avengers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035040" y="2331720"/>
            <a:ext cx="2633472" cy="2560320"/>
          </a:xfrm>
          <a:prstGeom prst="rect">
            <a:avLst/>
          </a:prstGeom>
          <a:solidFill>
            <a:srgbClr val="242B3D"/>
          </a:solidFill>
          <a:ln w="6350">
            <a:solidFill>
              <a:srgbClr val="334155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035040" y="2331720"/>
            <a:ext cx="2633472" cy="42062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035040" y="2331720"/>
            <a:ext cx="26334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Calculation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199632" y="288036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∩  Superbad, Avengers  =  2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199632" y="3447288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∪  All unique  =  4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199632" y="4014216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Score  =  2 ÷ 4  =  0.50 🎯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57200" y="4663440"/>
            <a:ext cx="8229600" cy="365760"/>
          </a:xfrm>
          <a:prstGeom prst="rect">
            <a:avLst/>
          </a:prstGeom>
          <a:solidFill>
            <a:srgbClr val="F59E0B">
              <a:alpha val="12000"/>
            </a:srgbClr>
          </a:solidFill>
          <a:ln w="12700">
            <a:solidFill>
              <a:srgbClr val="F59E0B">
                <a:alpha val="30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48640" y="466344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Fallback: If genre filter finds nothing via similarity → shows top-rated unseen movies in that genre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Split &amp; File Structure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804672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team member owns one module — clean, independent, easy to defend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11480" y="1261872"/>
            <a:ext cx="2697480" cy="35661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11480" y="1261872"/>
            <a:ext cx="2697480" cy="6400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1208" y="1353312"/>
            <a:ext cx="411480" cy="411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05840" y="1280160"/>
            <a:ext cx="2011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 1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548640" y="1993392"/>
            <a:ext cx="2423160" cy="347472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48640" y="1993392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models.py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576072" y="2450592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Movie class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576072" y="2798064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User class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612648" y="3163824"/>
            <a:ext cx="2331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Stores all movie &amp; user data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612648" y="3529584"/>
            <a:ext cx="2331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Methods: display(), to_dict(), has_seen()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612648" y="3895344"/>
            <a:ext cx="2331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Used by ALL other files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3264408" y="1261872"/>
            <a:ext cx="2697480" cy="35661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3264408" y="1261872"/>
            <a:ext cx="2697480" cy="6400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74136" y="1353312"/>
            <a:ext cx="411480" cy="411480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3858768" y="1280160"/>
            <a:ext cx="2011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 2</a:t>
            </a:r>
            <a:endParaRPr lang="en-US" sz="1700" dirty="0"/>
          </a:p>
        </p:txBody>
      </p:sp>
      <p:sp>
        <p:nvSpPr>
          <p:cNvPr id="19" name="Shape 15"/>
          <p:cNvSpPr/>
          <p:nvPr/>
        </p:nvSpPr>
        <p:spPr>
          <a:xfrm>
            <a:off x="3401568" y="1993392"/>
            <a:ext cx="2423160" cy="347472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3401568" y="1993392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data_manager.py</a:t>
            </a:r>
            <a:endParaRPr lang="en-US" sz="1000" dirty="0"/>
          </a:p>
        </p:txBody>
      </p:sp>
      <p:sp>
        <p:nvSpPr>
          <p:cNvPr id="21" name="Text 17"/>
          <p:cNvSpPr/>
          <p:nvPr/>
        </p:nvSpPr>
        <p:spPr>
          <a:xfrm>
            <a:off x="3429000" y="2450592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DataManager class</a:t>
            </a:r>
            <a:endParaRPr lang="en-US" sz="1150" dirty="0"/>
          </a:p>
        </p:txBody>
      </p:sp>
      <p:sp>
        <p:nvSpPr>
          <p:cNvPr id="22" name="Text 18"/>
          <p:cNvSpPr/>
          <p:nvPr/>
        </p:nvSpPr>
        <p:spPr>
          <a:xfrm>
            <a:off x="3465576" y="3163824"/>
            <a:ext cx="2331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Reads &amp; writes JSON files</a:t>
            </a:r>
            <a:endParaRPr lang="en-US" sz="1000" dirty="0"/>
          </a:p>
        </p:txBody>
      </p:sp>
      <p:sp>
        <p:nvSpPr>
          <p:cNvPr id="23" name="Text 19"/>
          <p:cNvSpPr/>
          <p:nvPr/>
        </p:nvSpPr>
        <p:spPr>
          <a:xfrm>
            <a:off x="3465576" y="3529584"/>
            <a:ext cx="2331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load_users(), load_movies()</a:t>
            </a:r>
            <a:endParaRPr lang="en-US" sz="1000" dirty="0"/>
          </a:p>
        </p:txBody>
      </p:sp>
      <p:sp>
        <p:nvSpPr>
          <p:cNvPr id="24" name="Text 20"/>
          <p:cNvSpPr/>
          <p:nvPr/>
        </p:nvSpPr>
        <p:spPr>
          <a:xfrm>
            <a:off x="3465576" y="3895344"/>
            <a:ext cx="2331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Auto-generates new IDs</a:t>
            </a:r>
            <a:endParaRPr lang="en-US" sz="1000" dirty="0"/>
          </a:p>
        </p:txBody>
      </p:sp>
      <p:sp>
        <p:nvSpPr>
          <p:cNvPr id="25" name="Shape 21"/>
          <p:cNvSpPr/>
          <p:nvPr/>
        </p:nvSpPr>
        <p:spPr>
          <a:xfrm>
            <a:off x="6117336" y="1261872"/>
            <a:ext cx="2697480" cy="35661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26" name="Shape 22"/>
          <p:cNvSpPr/>
          <p:nvPr/>
        </p:nvSpPr>
        <p:spPr>
          <a:xfrm>
            <a:off x="6117336" y="1261872"/>
            <a:ext cx="2697480" cy="64008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pic>
        <p:nvPicPr>
          <p:cNvPr id="2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7064" y="1353312"/>
            <a:ext cx="411480" cy="411480"/>
          </a:xfrm>
          <a:prstGeom prst="rect">
            <a:avLst/>
          </a:prstGeom>
        </p:spPr>
      </p:pic>
      <p:sp>
        <p:nvSpPr>
          <p:cNvPr id="28" name="Text 23"/>
          <p:cNvSpPr/>
          <p:nvPr/>
        </p:nvSpPr>
        <p:spPr>
          <a:xfrm>
            <a:off x="6711696" y="1280160"/>
            <a:ext cx="2011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 3</a:t>
            </a:r>
            <a:endParaRPr lang="en-US" sz="1700" dirty="0"/>
          </a:p>
        </p:txBody>
      </p:sp>
      <p:sp>
        <p:nvSpPr>
          <p:cNvPr id="29" name="Shape 24"/>
          <p:cNvSpPr/>
          <p:nvPr/>
        </p:nvSpPr>
        <p:spPr>
          <a:xfrm>
            <a:off x="6254496" y="1993392"/>
            <a:ext cx="2423160" cy="347472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5"/>
          <p:cNvSpPr/>
          <p:nvPr/>
        </p:nvSpPr>
        <p:spPr>
          <a:xfrm>
            <a:off x="6254496" y="1993392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recommender.py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 main.py</a:t>
            </a:r>
            <a:endParaRPr lang="en-US" sz="1000" dirty="0"/>
          </a:p>
        </p:txBody>
      </p:sp>
      <p:sp>
        <p:nvSpPr>
          <p:cNvPr id="31" name="Text 26"/>
          <p:cNvSpPr/>
          <p:nvPr/>
        </p:nvSpPr>
        <p:spPr>
          <a:xfrm>
            <a:off x="6281928" y="2450592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RecommendationSystem class</a:t>
            </a:r>
            <a:endParaRPr lang="en-US" sz="1150" dirty="0"/>
          </a:p>
        </p:txBody>
      </p:sp>
      <p:sp>
        <p:nvSpPr>
          <p:cNvPr id="32" name="Text 27"/>
          <p:cNvSpPr/>
          <p:nvPr/>
        </p:nvSpPr>
        <p:spPr>
          <a:xfrm>
            <a:off x="6281928" y="2798064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main.py entry point</a:t>
            </a:r>
            <a:endParaRPr lang="en-US" sz="1150" dirty="0"/>
          </a:p>
        </p:txBody>
      </p:sp>
      <p:sp>
        <p:nvSpPr>
          <p:cNvPr id="33" name="Text 28"/>
          <p:cNvSpPr/>
          <p:nvPr/>
        </p:nvSpPr>
        <p:spPr>
          <a:xfrm>
            <a:off x="6318504" y="3163824"/>
            <a:ext cx="2331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All 7 menu features</a:t>
            </a:r>
            <a:endParaRPr lang="en-US" sz="1000" dirty="0"/>
          </a:p>
        </p:txBody>
      </p:sp>
      <p:sp>
        <p:nvSpPr>
          <p:cNvPr id="34" name="Text 29"/>
          <p:cNvSpPr/>
          <p:nvPr/>
        </p:nvSpPr>
        <p:spPr>
          <a:xfrm>
            <a:off x="6318504" y="3529584"/>
            <a:ext cx="2331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Jaccard similarity logic</a:t>
            </a:r>
            <a:endParaRPr lang="en-US" sz="1000" dirty="0"/>
          </a:p>
        </p:txBody>
      </p:sp>
      <p:sp>
        <p:nvSpPr>
          <p:cNvPr id="35" name="Text 30"/>
          <p:cNvSpPr/>
          <p:nvPr/>
        </p:nvSpPr>
        <p:spPr>
          <a:xfrm>
            <a:off x="6318504" y="3895344"/>
            <a:ext cx="2331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Fallback recommendation logic</a:t>
            </a:r>
            <a:endParaRPr lang="en-US" sz="1000" dirty="0"/>
          </a:p>
        </p:txBody>
      </p:sp>
      <p:sp>
        <p:nvSpPr>
          <p:cNvPr id="36" name="Shape 31"/>
          <p:cNvSpPr/>
          <p:nvPr/>
        </p:nvSpPr>
        <p:spPr>
          <a:xfrm>
            <a:off x="411480" y="4681728"/>
            <a:ext cx="8321040" cy="347472"/>
          </a:xfrm>
          <a:prstGeom prst="rect">
            <a:avLst/>
          </a:prstGeom>
          <a:solidFill>
            <a:srgbClr val="1A1F2E"/>
          </a:solidFill>
          <a:ln w="12700">
            <a:solidFill>
              <a:srgbClr val="1A1F2E"/>
            </a:solidFill>
            <a:prstDash val="solid"/>
          </a:ln>
        </p:spPr>
      </p:sp>
      <p:sp>
        <p:nvSpPr>
          <p:cNvPr id="37" name="Text 32"/>
          <p:cNvSpPr/>
          <p:nvPr/>
        </p:nvSpPr>
        <p:spPr>
          <a:xfrm>
            <a:off x="411480" y="4681728"/>
            <a:ext cx="8321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chain:  main.py  →  recommender.py  →  data_manager.py  →  models.py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1F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Input, Output &amp; How to Run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365760" y="914400"/>
            <a:ext cx="4114800" cy="3840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0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📄  users.json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" y="1298448"/>
            <a:ext cx="4114800" cy="1481328"/>
          </a:xfrm>
          <a:prstGeom prst="rect">
            <a:avLst/>
          </a:prstGeom>
          <a:solidFill>
            <a:srgbClr val="0F172A"/>
          </a:solidFill>
          <a:ln w="635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75488" y="1353312"/>
            <a:ext cx="389534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{ "user_id": 1,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"name": "Alice",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"liked_items": ["movie1","movie2"],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"preferred_genres": ["action"] }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365760" y="2944368"/>
            <a:ext cx="4114800" cy="384048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2944368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📄  items.json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65760" y="3328416"/>
            <a:ext cx="4114800" cy="1481328"/>
          </a:xfrm>
          <a:prstGeom prst="rect">
            <a:avLst/>
          </a:prstGeom>
          <a:solidFill>
            <a:srgbClr val="0F172A"/>
          </a:solidFill>
          <a:ln w="6350">
            <a:solidFill>
              <a:srgbClr val="6366F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5488" y="3383280"/>
            <a:ext cx="389534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{ "id": "movie1",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"title": "The Dark Knight",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"genre": "action",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"year": 2008,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"rating": 9.0 }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754880" y="914400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Run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754880" y="1371600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Put all files in one folder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754880" y="1755648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No pip install needed!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754880" y="2139696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Open terminal → run: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754880" y="2542032"/>
            <a:ext cx="4069080" cy="475488"/>
          </a:xfrm>
          <a:prstGeom prst="rect">
            <a:avLst/>
          </a:prstGeom>
          <a:solidFill>
            <a:srgbClr val="0F172A"/>
          </a:solidFill>
          <a:ln w="6350">
            <a:solidFill>
              <a:srgbClr val="0D948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92040" y="2542032"/>
            <a:ext cx="3749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 python main.py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754880" y="3182112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Output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754880" y="3547872"/>
            <a:ext cx="4069080" cy="1371600"/>
          </a:xfrm>
          <a:prstGeom prst="rect">
            <a:avLst/>
          </a:prstGeom>
          <a:solidFill>
            <a:srgbClr val="0F172A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64608" y="3602736"/>
            <a:ext cx="3840480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Recommendations for Alice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Liked: Dark Knight, Superbad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#1  The Godfather  (drama)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Bob liked it [score: 0.50]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#2  Inception  (thriller)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David liked it [score: 0.20]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1F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-731520"/>
            <a:ext cx="4114800" cy="4114800"/>
          </a:xfrm>
          <a:prstGeom prst="ellipse">
            <a:avLst/>
          </a:prstGeom>
          <a:solidFill>
            <a:srgbClr val="0D9488">
              <a:alpha val="12000"/>
            </a:srgbClr>
          </a:solidFill>
          <a:ln w="12700">
            <a:solidFill>
              <a:srgbClr val="0D9488">
                <a:alpha val="12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914400" y="3200400"/>
            <a:ext cx="2926080" cy="2926080"/>
          </a:xfrm>
          <a:prstGeom prst="ellipse">
            <a:avLst/>
          </a:prstGeom>
          <a:solidFill>
            <a:srgbClr val="6366F1">
              <a:alpha val="12000"/>
            </a:srgbClr>
          </a:solidFill>
          <a:ln w="12700">
            <a:solidFill>
              <a:srgbClr val="6366F1">
                <a:alpha val="12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292608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1024128"/>
            <a:ext cx="8275320" cy="768096"/>
          </a:xfrm>
          <a:prstGeom prst="rect">
            <a:avLst/>
          </a:prstGeom>
          <a:solidFill>
            <a:srgbClr val="242B3D"/>
          </a:solidFill>
          <a:ln w="3810">
            <a:solidFill>
              <a:srgbClr val="334155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94360" y="1152144"/>
            <a:ext cx="512064" cy="512064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" y="1179576"/>
            <a:ext cx="457200" cy="4572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261872" y="1115568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OOP Design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1261872" y="1435608"/>
            <a:ext cx="7132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classes, each with one job. Easy to read, extend, and explain.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57200" y="1920240"/>
            <a:ext cx="8275320" cy="768096"/>
          </a:xfrm>
          <a:prstGeom prst="rect">
            <a:avLst/>
          </a:prstGeom>
          <a:solidFill>
            <a:srgbClr val="242B3D"/>
          </a:solidFill>
          <a:ln w="3810">
            <a:solidFill>
              <a:srgbClr val="334155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594360" y="2048256"/>
            <a:ext cx="512064" cy="512064"/>
          </a:xfrm>
          <a:prstGeom prst="ellipse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" y="2075688"/>
            <a:ext cx="457200" cy="45720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261872" y="2011680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Jaccard Similarity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1261872" y="2331720"/>
            <a:ext cx="7132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intersection math — no external libraries needed, just Python.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457200" y="2816352"/>
            <a:ext cx="8275320" cy="768096"/>
          </a:xfrm>
          <a:prstGeom prst="rect">
            <a:avLst/>
          </a:prstGeom>
          <a:solidFill>
            <a:srgbClr val="242B3D"/>
          </a:solidFill>
          <a:ln w="3810">
            <a:solidFill>
              <a:srgbClr val="334155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594360" y="2944368"/>
            <a:ext cx="512064" cy="512064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" y="2971800"/>
            <a:ext cx="457200" cy="45720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261872" y="2907792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Persistent JSON Storage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1261872" y="3227832"/>
            <a:ext cx="7132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&amp; movie data saved to disk. Changes survive between runs.</a:t>
            </a:r>
            <a:endParaRPr lang="en-US" sz="1100" dirty="0"/>
          </a:p>
        </p:txBody>
      </p:sp>
      <p:sp>
        <p:nvSpPr>
          <p:cNvPr id="20" name="Shape 15"/>
          <p:cNvSpPr/>
          <p:nvPr/>
        </p:nvSpPr>
        <p:spPr>
          <a:xfrm>
            <a:off x="457200" y="3712464"/>
            <a:ext cx="8275320" cy="768096"/>
          </a:xfrm>
          <a:prstGeom prst="rect">
            <a:avLst/>
          </a:prstGeom>
          <a:solidFill>
            <a:srgbClr val="242B3D"/>
          </a:solidFill>
          <a:ln w="3810">
            <a:solidFill>
              <a:srgbClr val="334155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594360" y="3840480"/>
            <a:ext cx="512064" cy="512064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792" y="3867912"/>
            <a:ext cx="457200" cy="45720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261872" y="3803904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Fallback Logic</a:t>
            </a:r>
            <a:endParaRPr lang="en-US" sz="1400" dirty="0"/>
          </a:p>
        </p:txBody>
      </p:sp>
      <p:sp>
        <p:nvSpPr>
          <p:cNvPr id="24" name="Text 18"/>
          <p:cNvSpPr/>
          <p:nvPr/>
        </p:nvSpPr>
        <p:spPr>
          <a:xfrm>
            <a:off x="1261872" y="4123944"/>
            <a:ext cx="7132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Genre filter always returns results — via similarity or top-rated picks.</a:t>
            </a:r>
            <a:endParaRPr lang="en-US" sz="1100" dirty="0"/>
          </a:p>
        </p:txBody>
      </p:sp>
      <p:sp>
        <p:nvSpPr>
          <p:cNvPr id="25" name="Shape 19"/>
          <p:cNvSpPr/>
          <p:nvPr/>
        </p:nvSpPr>
        <p:spPr>
          <a:xfrm>
            <a:off x="0" y="4645152"/>
            <a:ext cx="9144000" cy="4983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0"/>
          <p:cNvSpPr/>
          <p:nvPr/>
        </p:nvSpPr>
        <p:spPr>
          <a:xfrm>
            <a:off x="0" y="4645152"/>
            <a:ext cx="9144000" cy="4983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 ·  Questions Welcome  🎬</a:t>
            </a: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Movie Recommendation System</dc:title>
  <dc:subject>PptxGenJS Presentation</dc:subject>
  <dc:creator>PptxGenJS</dc:creator>
  <cp:lastModifiedBy>PptxGenJS</cp:lastModifiedBy>
  <cp:revision>1</cp:revision>
  <dcterms:created xsi:type="dcterms:W3CDTF">2026-05-21T21:57:53Z</dcterms:created>
  <dcterms:modified xsi:type="dcterms:W3CDTF">2026-05-21T21:57:53Z</dcterms:modified>
</cp:coreProperties>
</file>